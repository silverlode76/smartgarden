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Umsatz (EUR)</c:v>
                </c:pt>
              </c:strCache>
            </c:strRef>
          </c:tx>
          <c:spPr>
            <a:solidFill>
              <a:srgbClr val="52B788"/>
            </a:solidFill>
          </c:spPr>
          <c:cat>
            <c:strRef>
              <c:f>Sheet1!$A$2:$A$4</c:f>
              <c:strCache>
                <c:ptCount val="3"/>
                <c:pt idx="0">
                  <c:v>2026  (500 Nodes)</c:v>
                </c:pt>
                <c:pt idx="1">
                  <c:v>2027  (5.000 Nodes)</c:v>
                </c:pt>
                <c:pt idx="2">
                  <c:v>2028  (20.000 Nodes)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35000</c:v>
                </c:pt>
                <c:pt idx="1">
                  <c:v>344000</c:v>
                </c:pt>
                <c:pt idx="2">
                  <c:v>1300000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1E293B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0" y="-822960"/>
            <a:ext cx="3474720" cy="3474720"/>
          </a:xfrm>
          <a:prstGeom prst="ellipse">
            <a:avLst/>
          </a:prstGeom>
          <a:solidFill>
            <a:srgbClr val="25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3017520"/>
            <a:ext cx="3200400" cy="3200400"/>
          </a:xfrm>
          <a:prstGeom prst="ellipse">
            <a:avLst/>
          </a:prstGeom>
          <a:solidFill>
            <a:srgbClr val="25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</a:rPr>
              <a:t>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475488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</a:rPr>
              <a:t>SmartGarden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9659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95D5B2"/>
                </a:solidFill>
              </a:rPr>
              <a:t>Off-Grid Smart Gardening Ökosystem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8760" y="2606040"/>
            <a:ext cx="4572000" cy="36576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27889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7E4C7"/>
                </a:solidFill>
              </a:rPr>
              <a:t>Solar-betrieben  ·  LoRaWAN-vernetzt  ·  Kein WLAN  ·  Kein Strom nötig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4297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B788"/>
                </a:solidFill>
              </a:rPr>
              <a:t>Oliver Schmoll  ·  Technical Product Manager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93B"/>
                </a:solidFill>
              </a:rPr>
              <a:t>Das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932688"/>
            <a:ext cx="2743200" cy="3858768"/>
          </a:xfrm>
          <a:prstGeom prst="rect">
            <a:avLst/>
          </a:prstGeom>
          <a:solidFill>
            <a:srgbClr val="D8F3D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932688"/>
            <a:ext cx="2743200" cy="109728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78992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8288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C5F2D"/>
                </a:solidFill>
              </a:rPr>
              <a:t>Der Gärtner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304288"/>
            <a:ext cx="248716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Font typeface="Arial"/>
            </a:pPr>
            <a:r>
              <a:rPr sz="1200">
                <a:solidFill>
                  <a:srgbClr val="1E293B"/>
                </a:solidFill>
              </a:rPr>
              <a:t>Pflanzen sterben im Urlaub</a:t>
            </a:r>
          </a:p>
          <a:p>
            <a:pPr algn="l">
              <a:buChar char="•"/>
              <a:buFont typeface="Arial"/>
            </a:pPr>
            <a:r>
              <a:rPr sz="1200">
                <a:solidFill>
                  <a:srgbClr val="1E293B"/>
                </a:solidFill>
              </a:rPr>
              <a:t>Lösungen brauchen Wasserhahn mit Druck</a:t>
            </a:r>
          </a:p>
          <a:p>
            <a:pPr algn="l">
              <a:buChar char="•"/>
              <a:buFont typeface="Arial"/>
            </a:pPr>
            <a:r>
              <a:rPr sz="1200">
                <a:solidFill>
                  <a:srgbClr val="1E293B"/>
                </a:solidFill>
              </a:rPr>
              <a:t>Off-Grid = keine funktionierende Lösung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932688"/>
            <a:ext cx="2743200" cy="3858768"/>
          </a:xfrm>
          <a:prstGeom prst="rect">
            <a:avLst/>
          </a:prstGeom>
          <a:solidFill>
            <a:srgbClr val="E8EAF6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46120" y="932688"/>
            <a:ext cx="2743200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078992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8288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37E"/>
                </a:solidFill>
              </a:rPr>
              <a:t>Der Laubenbesitzer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79" y="2304288"/>
            <a:ext cx="248716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Font typeface="Arial"/>
            </a:pPr>
            <a:r>
              <a:rPr sz="1200">
                <a:solidFill>
                  <a:srgbClr val="1E293B"/>
                </a:solidFill>
              </a:rPr>
              <a:t>Einbrüche in Gartenlauben nehmen zu</a:t>
            </a:r>
          </a:p>
          <a:p>
            <a:pPr algn="l">
              <a:buChar char="•"/>
              <a:buFont typeface="Arial"/>
            </a:pPr>
            <a:r>
              <a:rPr sz="1200">
                <a:solidFill>
                  <a:srgbClr val="1E293B"/>
                </a:solidFill>
              </a:rPr>
              <a:t>Wildkamera: Foto ja — Sofort-Alarm nein</a:t>
            </a:r>
          </a:p>
          <a:p>
            <a:pPr algn="l">
              <a:buChar char="•"/>
              <a:buFont typeface="Arial"/>
            </a:pPr>
            <a:r>
              <a:rPr sz="1200">
                <a:solidFill>
                  <a:srgbClr val="1E293B"/>
                </a:solidFill>
              </a:rPr>
              <a:t>Keine Alarmanlage ohne Strom + WLAN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932688"/>
            <a:ext cx="2743200" cy="3858768"/>
          </a:xfrm>
          <a:prstGeom prst="rect">
            <a:avLst/>
          </a:prstGeom>
          <a:solidFill>
            <a:srgbClr val="FFF3E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932688"/>
            <a:ext cx="2743200" cy="109728"/>
          </a:xfrm>
          <a:prstGeom prst="rect">
            <a:avLst/>
          </a:prstGeom>
          <a:solidFill>
            <a:srgbClr val="C8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078992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🏗️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79" y="18288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84B00"/>
                </a:solidFill>
              </a:rPr>
              <a:t>Der Gewerbetreibende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04288"/>
            <a:ext cx="248716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Font typeface="Arial"/>
            </a:pPr>
            <a:r>
              <a:rPr sz="1200">
                <a:solidFill>
                  <a:srgbClr val="1E293B"/>
                </a:solidFill>
              </a:rPr>
              <a:t>Baumaschinen, Holz, Weinberge gestohlen</a:t>
            </a:r>
          </a:p>
          <a:p>
            <a:pPr algn="l">
              <a:buChar char="•"/>
              <a:buFont typeface="Arial"/>
            </a:pPr>
            <a:r>
              <a:rPr sz="1200">
                <a:solidFill>
                  <a:srgbClr val="1E293B"/>
                </a:solidFill>
              </a:rPr>
              <a:t>GSM-Alarme teuer + monatliche Kosten</a:t>
            </a:r>
          </a:p>
          <a:p>
            <a:pPr algn="l">
              <a:buChar char="•"/>
              <a:buFont typeface="Arial"/>
            </a:pPr>
            <a:r>
              <a:rPr sz="1200">
                <a:solidFill>
                  <a:srgbClr val="1E293B"/>
                </a:solidFill>
              </a:rPr>
              <a:t>Kein LoRaWAN-Angebot am Markt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93B"/>
                </a:solidFill>
              </a:rPr>
              <a:t>Zwei spezialisierte Produkte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932688"/>
            <a:ext cx="416052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32688"/>
            <a:ext cx="4160520" cy="109728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5F2D"/>
                </a:solidFill>
              </a:rPr>
              <a:t>🌱  SmartGarden Garden Home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3619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~65€  ·  Irrigator Node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83664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Font typeface="Arial"/>
            </a:pPr>
            <a:r>
              <a:rPr sz="1200">
                <a:solidFill>
                  <a:srgbClr val="1E293B"/>
                </a:solidFill>
              </a:rPr>
              <a:t>Bodenfeuchte messen</a:t>
            </a:r>
          </a:p>
          <a:p>
            <a:pPr algn="l">
              <a:buChar char="•"/>
              <a:buFont typeface="Arial"/>
            </a:pPr>
            <a:r>
              <a:rPr sz="1200">
                <a:solidFill>
                  <a:srgbClr val="1E293B"/>
                </a:solidFill>
              </a:rPr>
              <a:t>Automatisch pumpen</a:t>
            </a:r>
          </a:p>
          <a:p>
            <a:pPr algn="l">
              <a:buChar char="•"/>
              <a:buFont typeface="Arial"/>
            </a:pPr>
            <a:r>
              <a:rPr sz="1200">
                <a:solidFill>
                  <a:srgbClr val="1E293B"/>
                </a:solidFill>
              </a:rPr>
              <a:t>Per App steuern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8346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5F2D"/>
                </a:solidFill>
              </a:rPr>
              <a:t>Kein Wasserhahn  ·  Solar  ·  LoRaWAN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932688"/>
            <a:ext cx="416052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9160" y="932688"/>
            <a:ext cx="4160520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097280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</a:rPr>
              <a:t>🔒  SmartGarden Guard 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53619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~45€  ·  Guard Node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883664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Font typeface="Arial"/>
            </a:pPr>
            <a:r>
              <a:rPr sz="1200">
                <a:solidFill>
                  <a:srgbClr val="1E293B"/>
                </a:solidFill>
              </a:rPr>
              <a:t>Bewegung + Erschütterung erkennen</a:t>
            </a:r>
          </a:p>
          <a:p>
            <a:pPr algn="l">
              <a:buChar char="•"/>
              <a:buFont typeface="Arial"/>
            </a:pPr>
            <a:r>
              <a:rPr sz="1200">
                <a:solidFill>
                  <a:srgbClr val="1E293B"/>
                </a:solidFill>
              </a:rPr>
              <a:t>Sofortiger Push-Alarm aufs Handy</a:t>
            </a:r>
          </a:p>
          <a:p>
            <a:pPr algn="l">
              <a:buChar char="•"/>
              <a:buFont typeface="Arial"/>
            </a:pPr>
            <a:r>
              <a:rPr sz="1200">
                <a:solidFill>
                  <a:srgbClr val="1E293B"/>
                </a:solidFill>
              </a:rPr>
              <a:t>Ohne WLAN · ohne Monatskosten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8346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237E"/>
                </a:solidFill>
              </a:rPr>
              <a:t>Kein WLAN  ·  Solar  ·  Jahre ohne Wartung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160520"/>
            <a:ext cx="8595360" cy="65836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178808"/>
            <a:ext cx="8412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🌱🔒  SmartGarden Bundle  ~100€  ·  Irrigator + Guard  ·  Eine App  ·  Ein Gateway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93B"/>
                </a:solidFill>
              </a:rPr>
              <a:t>Marktlücke — niemand hat alles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2606040" cy="438912"/>
          </a:xfrm>
          <a:prstGeom prst="rect">
            <a:avLst/>
          </a:prstGeom>
          <a:solidFill>
            <a:srgbClr val="1E293B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971800" y="914400"/>
            <a:ext cx="1810512" cy="438912"/>
          </a:xfrm>
          <a:prstGeom prst="rect">
            <a:avLst/>
          </a:prstGeom>
          <a:solidFill>
            <a:srgbClr val="E2E8F0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0" y="960120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</a:rPr>
              <a:t>MIYO  (~250€)</a:t>
            </a:r>
          </a:p>
        </p:txBody>
      </p:sp>
      <p:sp>
        <p:nvSpPr>
          <p:cNvPr id="7" name="Rectangle 6"/>
          <p:cNvSpPr/>
          <p:nvPr/>
        </p:nvSpPr>
        <p:spPr>
          <a:xfrm>
            <a:off x="4782312" y="914400"/>
            <a:ext cx="2084831" cy="438912"/>
          </a:xfrm>
          <a:prstGeom prst="rect">
            <a:avLst/>
          </a:prstGeom>
          <a:solidFill>
            <a:srgbClr val="E2E8F0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28032" y="960120"/>
            <a:ext cx="19933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</a:rPr>
              <a:t>Gardena AquaBloom  (~80€)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67144" y="914400"/>
            <a:ext cx="1810512" cy="438912"/>
          </a:xfrm>
          <a:prstGeom prst="rect">
            <a:avLst/>
          </a:prstGeom>
          <a:solidFill>
            <a:srgbClr val="2C5F2D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12864" y="960120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SmartGarden  (~65€)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53312"/>
            <a:ext cx="2606040" cy="43891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26464"/>
            <a:ext cx="25146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Pumpe (kein Wasserhahn)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71800" y="1353312"/>
            <a:ext cx="1810512" cy="43891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1426464"/>
            <a:ext cx="171907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0000"/>
                </a:solidFill>
              </a:rPr>
              <a:t>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82312" y="1353312"/>
            <a:ext cx="2084831" cy="43891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28032" y="1426464"/>
            <a:ext cx="1993391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6B1B"/>
                </a:solidFill>
              </a:rPr>
              <a:t>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67144" y="1353312"/>
            <a:ext cx="1810512" cy="438912"/>
          </a:xfrm>
          <a:prstGeom prst="rect">
            <a:avLst/>
          </a:prstGeom>
          <a:solidFill>
            <a:srgbClr val="E8F5E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12864" y="1426464"/>
            <a:ext cx="171907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5F2D"/>
                </a:solidFill>
              </a:rPr>
              <a:t>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792224"/>
            <a:ext cx="26060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1865376"/>
            <a:ext cx="25146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App / Fernzugriff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71800" y="1792224"/>
            <a:ext cx="1810512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0" y="1865376"/>
            <a:ext cx="171907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6B1B"/>
                </a:solidFill>
              </a:rPr>
              <a:t>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82312" y="1792224"/>
            <a:ext cx="2084831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28032" y="1865376"/>
            <a:ext cx="1993391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0000"/>
                </a:solidFill>
              </a:rPr>
              <a:t>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67144" y="1792224"/>
            <a:ext cx="1810512" cy="438912"/>
          </a:xfrm>
          <a:prstGeom prst="rect">
            <a:avLst/>
          </a:prstGeom>
          <a:solidFill>
            <a:srgbClr val="E8F5E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12864" y="1865376"/>
            <a:ext cx="171907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5F2D"/>
                </a:solidFill>
              </a:rPr>
              <a:t>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231136"/>
            <a:ext cx="2606040" cy="43891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304288"/>
            <a:ext cx="25146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Bodenfeuchtesensor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71800" y="2231136"/>
            <a:ext cx="1810512" cy="43891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0" y="2304288"/>
            <a:ext cx="171907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6B1B"/>
                </a:solidFill>
              </a:rPr>
              <a:t>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82312" y="2231136"/>
            <a:ext cx="2084831" cy="43891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28032" y="2304288"/>
            <a:ext cx="1993391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0000"/>
                </a:solidFill>
              </a:rPr>
              <a:t>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67144" y="2231136"/>
            <a:ext cx="1810512" cy="438912"/>
          </a:xfrm>
          <a:prstGeom prst="rect">
            <a:avLst/>
          </a:prstGeom>
          <a:solidFill>
            <a:srgbClr val="E8F5E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12864" y="2304288"/>
            <a:ext cx="171907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5F2D"/>
                </a:solidFill>
              </a:rPr>
              <a:t>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2670048"/>
            <a:ext cx="26060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2743200"/>
            <a:ext cx="25146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LoRaWAN (kein WLAN)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71800" y="2670048"/>
            <a:ext cx="1810512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17520" y="2743200"/>
            <a:ext cx="171907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6B1B"/>
                </a:solidFill>
              </a:rPr>
              <a:t>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82312" y="2670048"/>
            <a:ext cx="2084831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28032" y="2743200"/>
            <a:ext cx="1993391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0000"/>
                </a:solidFill>
              </a:rPr>
              <a:t>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67144" y="2670048"/>
            <a:ext cx="1810512" cy="438912"/>
          </a:xfrm>
          <a:prstGeom prst="rect">
            <a:avLst/>
          </a:prstGeom>
          <a:solidFill>
            <a:srgbClr val="E8F5E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12864" y="2743200"/>
            <a:ext cx="171907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5F2D"/>
                </a:solidFill>
              </a:rPr>
              <a:t>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3108960"/>
            <a:ext cx="2606040" cy="43891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3182112"/>
            <a:ext cx="25146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Einbruchalarm / PIR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71800" y="3108960"/>
            <a:ext cx="1810512" cy="43891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17520" y="3182112"/>
            <a:ext cx="171907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0000"/>
                </a:solidFill>
              </a:rPr>
              <a:t>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82312" y="3108960"/>
            <a:ext cx="2084831" cy="43891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28032" y="3182112"/>
            <a:ext cx="1993391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0000"/>
                </a:solidFill>
              </a:rPr>
              <a:t>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67144" y="3108960"/>
            <a:ext cx="1810512" cy="438912"/>
          </a:xfrm>
          <a:prstGeom prst="rect">
            <a:avLst/>
          </a:prstGeom>
          <a:solidFill>
            <a:srgbClr val="E8F5E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12864" y="3182112"/>
            <a:ext cx="171907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5F2D"/>
                </a:solidFill>
              </a:rPr>
              <a:t>✅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3547872"/>
            <a:ext cx="26060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3621024"/>
            <a:ext cx="25146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Open Source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71800" y="3547872"/>
            <a:ext cx="1810512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017520" y="3621024"/>
            <a:ext cx="171907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0000"/>
                </a:solidFill>
              </a:rPr>
              <a:t>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82312" y="3547872"/>
            <a:ext cx="2084831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28032" y="3621024"/>
            <a:ext cx="1993391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0000"/>
                </a:solidFill>
              </a:rPr>
              <a:t>❌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67144" y="3547872"/>
            <a:ext cx="1810512" cy="438912"/>
          </a:xfrm>
          <a:prstGeom prst="rect">
            <a:avLst/>
          </a:prstGeom>
          <a:solidFill>
            <a:srgbClr val="E8F5E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12864" y="3621024"/>
            <a:ext cx="171907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5F2D"/>
                </a:solidFill>
              </a:rPr>
              <a:t>✅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3986783"/>
            <a:ext cx="2606040" cy="43891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4059935"/>
            <a:ext cx="25146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Preis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971800" y="3986783"/>
            <a:ext cx="1810512" cy="43891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17520" y="4059935"/>
            <a:ext cx="171907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0000"/>
                </a:solidFill>
              </a:rPr>
              <a:t>~250€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782312" y="3986783"/>
            <a:ext cx="2084831" cy="43891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828032" y="4059935"/>
            <a:ext cx="1993391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</a:rPr>
              <a:t>~80€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67144" y="3986783"/>
            <a:ext cx="1810512" cy="438912"/>
          </a:xfrm>
          <a:prstGeom prst="rect">
            <a:avLst/>
          </a:prstGeom>
          <a:solidFill>
            <a:srgbClr val="E8F5E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12864" y="4059935"/>
            <a:ext cx="171907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5F2D"/>
                </a:solidFill>
              </a:rPr>
              <a:t>~65€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93B"/>
                </a:solidFill>
              </a:rPr>
              <a:t>Marktpotenzial Europa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22960"/>
            <a:ext cx="2743200" cy="141732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2743200" cy="914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C5F2D"/>
                </a:solidFill>
              </a:rPr>
              <a:t>4,2 Mio.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Off-Grid Standorte
in Europa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822960"/>
            <a:ext cx="2743200" cy="141732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822960"/>
            <a:ext cx="2743200" cy="914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9144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237E"/>
                </a:solidFill>
              </a:rPr>
              <a:t>862 Mio. 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60020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TAM Hardware
Europa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822960"/>
            <a:ext cx="2743200" cy="141732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822960"/>
            <a:ext cx="2743200" cy="91440"/>
          </a:xfrm>
          <a:prstGeom prst="rect">
            <a:avLst/>
          </a:prstGeom>
          <a:solidFill>
            <a:srgbClr val="C8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9144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84B00"/>
                </a:solidFill>
              </a:rPr>
              <a:t>3,0 Mio. 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60020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SaaS ARR
bei 2% Penetration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365760" y="2395728"/>
          <a:ext cx="841248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93B"/>
                </a:solidFill>
              </a:rPr>
              <a:t>Der Markt wird konsolidiert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932688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32688"/>
            <a:ext cx="91440" cy="1463040"/>
          </a:xfrm>
          <a:prstGeom prst="rect">
            <a:avLst/>
          </a:prstGeom>
          <a:solidFill>
            <a:srgbClr val="C8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C84B00"/>
                </a:solidFill>
              </a:rPr>
              <a:t>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→ Amazon  2018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82495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E293B"/>
                </a:solidFill>
              </a:rPr>
              <a:t>~1 Mrd. 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66543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Consumer Security IoT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932688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932688"/>
            <a:ext cx="91440" cy="1463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102412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237E"/>
                </a:solidFill>
              </a:rPr>
              <a:t>Netatmo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38988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→ Legrand  2018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682495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E293B"/>
                </a:solidFill>
              </a:rPr>
              <a:t>~70 Mio. 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066543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Smart Home IoT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633472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633472"/>
            <a:ext cx="91440" cy="14630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72491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C5F2D"/>
                </a:solidFill>
              </a:rPr>
              <a:t>Gardena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9067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→ Husqvarna  lfd.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383279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E293B"/>
                </a:solidFill>
              </a:rPr>
              <a:t>&gt;800 Mio. € Umsatz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76732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Bewässerungssysteme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2633472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0" y="2633472"/>
            <a:ext cx="91440" cy="1463040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272491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74C69D"/>
                </a:solidFill>
              </a:rPr>
              <a:t>MIYO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309067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→ Startup  aktiv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3383279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E293B"/>
                </a:solidFill>
              </a:rPr>
              <a:t>~5 Mio. € Finanzierung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376732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LoRaWAN Bewässerung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553712"/>
            <a:ext cx="8595360" cy="393192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562856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Niemand hat das off-grid Segment mit Pumpe + Alarm — das ist die Lücke.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93B"/>
                </a:solidFill>
              </a:rPr>
              <a:t>Technologie-Stack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3017520" y="822960"/>
            <a:ext cx="3108960" cy="640080"/>
          </a:xfrm>
          <a:prstGeom prst="rect">
            <a:avLst/>
          </a:prstGeom>
          <a:solidFill>
            <a:srgbClr val="D8F3D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27248" y="896112"/>
            <a:ext cx="2889504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☀️  Solar 6W + 2× 18650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64748B"/>
                </a:solidFill>
              </a:rPr>
              <a:t>Autarke Stromversorgung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4630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</a:rPr>
              <a:t>↓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1783080"/>
            <a:ext cx="3108960" cy="658368"/>
          </a:xfrm>
          <a:prstGeom prst="rect">
            <a:avLst/>
          </a:prstGeom>
          <a:solidFill>
            <a:srgbClr val="1B433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27248" y="1856231"/>
            <a:ext cx="2889504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TTGO LoRa32 V2.1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95D5B2"/>
                </a:solidFill>
              </a:rPr>
              <a:t>ESP32 + SX1276  ·  868 MHz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299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4748B"/>
                </a:solidFill>
              </a:rPr>
              <a:t>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299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331720"/>
            <a:ext cx="2468880" cy="658368"/>
          </a:xfrm>
          <a:prstGeom prst="rect">
            <a:avLst/>
          </a:prstGeom>
          <a:solidFill>
            <a:srgbClr val="D8F3D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404872"/>
            <a:ext cx="2249424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🌱 Garden Node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64748B"/>
                </a:solidFill>
              </a:rPr>
              <a:t>Bodenfeuchte + 12V Pumpe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331720"/>
            <a:ext cx="2468880" cy="658368"/>
          </a:xfrm>
          <a:prstGeom prst="rect">
            <a:avLst/>
          </a:prstGeom>
          <a:solidFill>
            <a:srgbClr val="E8EAF6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404872"/>
            <a:ext cx="2249424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🔒 Guard Node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64748B"/>
                </a:solidFill>
              </a:rPr>
              <a:t>PIR AM312 + SW-420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45059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3035808"/>
            <a:ext cx="201168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89888" y="3108960"/>
            <a:ext cx="1792224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LoRaWAN 868 MHz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64748B"/>
                </a:solidFill>
              </a:rPr>
              <a:t>TTN Gateway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1729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39" y="3035808"/>
            <a:ext cx="201168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58768" y="3108960"/>
            <a:ext cx="1792224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Cloud Backend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64748B"/>
                </a:solidFill>
              </a:rPr>
              <a:t>REST API + Regelwerk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1729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035808"/>
            <a:ext cx="201168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3108960"/>
            <a:ext cx="1792224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📱 App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64748B"/>
                </a:solidFill>
              </a:rPr>
              <a:t>iOS + Android (Flutter)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886200"/>
            <a:ext cx="8595360" cy="41148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904487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KiCad 10 Schaltplan fertig  ·  ERC: 0 Errors  ·  Open Source: github.com/Silverlode76/SmartGarden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93B"/>
                </a:solidFill>
              </a:rPr>
              <a:t>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914400"/>
            <a:ext cx="64008" cy="53035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932688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932688"/>
            <a:ext cx="1783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v0.0  (2025)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179576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F2D"/>
                </a:solidFill>
              </a:rPr>
              <a:t>Prototyp STM32 + SX1276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005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TP4056 → CN3791, STM32 → ESP32 — Erkenntnisse dokumentiert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81912"/>
            <a:ext cx="64008" cy="53035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600200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00200"/>
            <a:ext cx="1783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v0.1  (2026 Q1)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847088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F2D"/>
                </a:solidFill>
              </a:rPr>
              <a:t>KiCad Schaltplan + BOM + Anleitung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6733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ERC: 0 Errors · 5 Blöcke · Open Source auf GitHub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249424"/>
            <a:ext cx="64008" cy="530352"/>
          </a:xfrm>
          <a:prstGeom prst="rect">
            <a:avLst/>
          </a:prstGeom>
          <a:solidFill>
            <a:srgbClr val="C8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2267712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267712"/>
            <a:ext cx="1783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v0.2  (2026 Q2)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51460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4B00"/>
                </a:solidFill>
              </a:rPr>
              <a:t>Garden Home Prototyp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34086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Pumpe + Bodenfeuchte + LoRaWAN + Deep Sleep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916936"/>
            <a:ext cx="64008" cy="5303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2935224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2935224"/>
            <a:ext cx="1783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v0.3  (2026 Q3)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3182112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Guard Home Prototyp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00837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PIR + Vibration + AND-Logik + Push-Alarm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584448"/>
            <a:ext cx="64008" cy="5303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" y="3602736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3602736"/>
            <a:ext cx="1783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v0.4  (2026 Q3)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3849624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App MVP (Flutter)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675887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Beide Nodes · Push-Alarm · iOS + Android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251960"/>
            <a:ext cx="64008" cy="5303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" y="4270248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4270248"/>
            <a:ext cx="1783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v1.0  (2027 Q2)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4517136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Markteinführung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Amazon FBA · Bundle · App Store Release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93B"/>
                </a:solidFill>
              </a:rPr>
              <a:t>Go-to-Market in 4 Phasen</a:t>
            </a:r>
          </a:p>
        </p:txBody>
      </p:sp>
      <p:sp>
        <p:nvSpPr>
          <p:cNvPr id="3" name="Rectangle 2"/>
          <p:cNvSpPr/>
          <p:nvPr/>
        </p:nvSpPr>
        <p:spPr>
          <a:xfrm>
            <a:off x="256032" y="896112"/>
            <a:ext cx="201168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896112"/>
            <a:ext cx="2011680" cy="109728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2" y="1078992"/>
            <a:ext cx="640080" cy="64008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07899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47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215798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5F2D"/>
                </a:solidFill>
              </a:rPr>
              <a:t>DIY &amp; Community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06040"/>
            <a:ext cx="18105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Font typeface="Arial"/>
            </a:pPr>
            <a:r>
              <a:rPr sz="1100">
                <a:solidFill>
                  <a:srgbClr val="1E293B"/>
                </a:solidFill>
              </a:rPr>
              <a:t>GitHub Open Source</a:t>
            </a:r>
          </a:p>
          <a:p>
            <a:pPr algn="l">
              <a:buChar char="•"/>
              <a:buFont typeface="Arial"/>
            </a:pPr>
            <a:r>
              <a:rPr sz="1100">
                <a:solidFill>
                  <a:srgbClr val="1E293B"/>
                </a:solidFill>
              </a:rPr>
              <a:t>Maker-Blogs + YouTube</a:t>
            </a:r>
          </a:p>
          <a:p>
            <a:pPr algn="l">
              <a:buChar char="•"/>
              <a:buFont typeface="Arial"/>
            </a:pPr>
            <a:r>
              <a:rPr sz="1100">
                <a:solidFill>
                  <a:srgbClr val="1E293B"/>
                </a:solidFill>
              </a:rPr>
              <a:t>Ziel: 100 Nodes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32304" y="896112"/>
            <a:ext cx="201168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32304" y="896112"/>
            <a:ext cx="2011680" cy="109728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18104" y="1078992"/>
            <a:ext cx="640080" cy="640080"/>
          </a:xfrm>
          <a:prstGeom prst="ellipse">
            <a:avLst/>
          </a:prstGeom>
          <a:solidFill>
            <a:srgbClr val="74C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8104" y="107899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3744" y="1847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2026–2027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3744" y="215798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4C69D"/>
                </a:solidFill>
              </a:rPr>
              <a:t>Kleingartenvereine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2606040"/>
            <a:ext cx="18105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Font typeface="Arial"/>
            </a:pPr>
            <a:r>
              <a:rPr sz="1100">
                <a:solidFill>
                  <a:srgbClr val="1E293B"/>
                </a:solidFill>
              </a:rPr>
              <a:t>1 Gateway = ganzer Verein</a:t>
            </a:r>
          </a:p>
          <a:p>
            <a:pPr algn="l">
              <a:buChar char="•"/>
              <a:buFont typeface="Arial"/>
            </a:pPr>
            <a:r>
              <a:rPr sz="1100">
                <a:solidFill>
                  <a:srgbClr val="1E293B"/>
                </a:solidFill>
              </a:rPr>
              <a:t>Viral: 1 Pilot → alle</a:t>
            </a:r>
          </a:p>
          <a:p>
            <a:pPr algn="l">
              <a:buChar char="•"/>
              <a:buFont typeface="Arial"/>
            </a:pPr>
            <a:r>
              <a:rPr sz="1100">
                <a:solidFill>
                  <a:srgbClr val="1E293B"/>
                </a:solidFill>
              </a:rPr>
              <a:t>Ziel: 10 Pilotvereine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08576" y="896112"/>
            <a:ext cx="201168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08576" y="896112"/>
            <a:ext cx="2011680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94376" y="1078992"/>
            <a:ext cx="640080" cy="64008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94376" y="107899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16" y="1847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2027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0016" y="215798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37E"/>
                </a:solidFill>
              </a:rPr>
              <a:t>Amazon FBA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18304" y="2606040"/>
            <a:ext cx="18105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Font typeface="Arial"/>
            </a:pPr>
            <a:r>
              <a:rPr sz="1100">
                <a:solidFill>
                  <a:srgbClr val="1E293B"/>
                </a:solidFill>
              </a:rPr>
              <a:t>DE + AT + CH</a:t>
            </a:r>
          </a:p>
          <a:p>
            <a:pPr algn="l">
              <a:buChar char="•"/>
              <a:buFont typeface="Arial"/>
            </a:pPr>
            <a:r>
              <a:rPr sz="1100">
                <a:solidFill>
                  <a:srgbClr val="1E293B"/>
                </a:solidFill>
              </a:rPr>
              <a:t>Hornbach / Baumarkt</a:t>
            </a:r>
          </a:p>
          <a:p>
            <a:pPr algn="l">
              <a:buChar char="•"/>
              <a:buFont typeface="Arial"/>
            </a:pPr>
            <a:r>
              <a:rPr sz="1100">
                <a:solidFill>
                  <a:srgbClr val="1E293B"/>
                </a:solidFill>
              </a:rPr>
              <a:t>Ziel: 5.000 Nodes/Jahr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84848" y="896112"/>
            <a:ext cx="201168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84848" y="896112"/>
            <a:ext cx="2011680" cy="109728"/>
          </a:xfrm>
          <a:prstGeom prst="rect">
            <a:avLst/>
          </a:prstGeom>
          <a:solidFill>
            <a:srgbClr val="C8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70648" y="1078992"/>
            <a:ext cx="640080" cy="640080"/>
          </a:xfrm>
          <a:prstGeom prst="ellipse">
            <a:avLst/>
          </a:prstGeom>
          <a:solidFill>
            <a:srgbClr val="C8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70648" y="107899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6288" y="1847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2028+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6288" y="215798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84B00"/>
                </a:solidFill>
              </a:rPr>
              <a:t>B2B &amp; OEM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2606040"/>
            <a:ext cx="18105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  <a:buFont typeface="Arial"/>
            </a:pPr>
            <a:r>
              <a:rPr sz="1100">
                <a:solidFill>
                  <a:srgbClr val="1E293B"/>
                </a:solidFill>
              </a:rPr>
              <a:t>Guard Field: Winzer/Baustellen</a:t>
            </a:r>
          </a:p>
          <a:p>
            <a:pPr algn="l">
              <a:buChar char="•"/>
              <a:buFont typeface="Arial"/>
            </a:pPr>
            <a:r>
              <a:rPr sz="1100">
                <a:solidFill>
                  <a:srgbClr val="1E293B"/>
                </a:solidFill>
              </a:rPr>
              <a:t>OEM-Lizenz an Hersteller</a:t>
            </a:r>
          </a:p>
          <a:p>
            <a:pPr algn="l">
              <a:buChar char="•"/>
              <a:buFont typeface="Arial"/>
            </a:pPr>
            <a:r>
              <a:rPr sz="1100">
                <a:solidFill>
                  <a:srgbClr val="1E293B"/>
                </a:solidFill>
              </a:rPr>
              <a:t>Ziel: Lizenzeinnahmen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0" y="-731520"/>
            <a:ext cx="3474720" cy="3474720"/>
          </a:xfrm>
          <a:prstGeom prst="ellipse">
            <a:avLst/>
          </a:prstGeom>
          <a:solidFill>
            <a:srgbClr val="25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4114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</a:rPr>
              <a:t>Oliver</a:t>
            </a:r>
          </a:p>
          <a:p>
            <a:pPr algn="l"/>
            <a:r>
              <a:rPr sz="5000" b="1" i="0">
                <a:solidFill>
                  <a:srgbClr val="FFFFFF"/>
                </a:solidFill>
              </a:rPr>
              <a:t>Schmoll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78608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74C69D"/>
                </a:solidFill>
              </a:rPr>
              <a:t>Technical Product Manager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127248"/>
            <a:ext cx="3200400" cy="36576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73552"/>
            <a:ext cx="4114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5D5B2"/>
                </a:solidFill>
              </a:rPr>
              <a:t>🔗 github.com/Silverlode76/SmartGarden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95D5B2"/>
                </a:solidFill>
              </a:rPr>
              <a:t>🔗 linkedin.com/in/oliver-schmoll-8b4109273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457200"/>
            <a:ext cx="3931920" cy="4389120"/>
          </a:xfrm>
          <a:prstGeom prst="rect">
            <a:avLst/>
          </a:prstGeom>
          <a:solidFill>
            <a:srgbClr val="254D3A"/>
          </a:solidFill>
          <a:ln w="1016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64008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4C69D"/>
                </a:solidFill>
              </a:rPr>
              <a:t>Erfahrung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9144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22+ Jahre Automotive (Continental)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417319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4C69D"/>
                </a:solidFill>
              </a:rPr>
              <a:t>Ausbildung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691639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Diplom-Ingenieur Informationstechnologie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19456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4C69D"/>
                </a:solidFill>
              </a:rPr>
              <a:t>Sprachen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468879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Deutsch  ·  Englisch  ·  Französisch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97180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4C69D"/>
                </a:solidFill>
              </a:rPr>
              <a:t>Zertifizierungen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24612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Microsoft AI PM · AWS Cloud · NVIDIA Gen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749039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4C69D"/>
                </a:solidFill>
              </a:rPr>
              <a:t>SmartGarden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4023359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Hardware · Firmware · Strategie · Open 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